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262" r:id="rId3"/>
    <p:sldId id="257" r:id="rId4"/>
    <p:sldId id="269" r:id="rId5"/>
    <p:sldId id="270" r:id="rId6"/>
    <p:sldId id="271" r:id="rId7"/>
    <p:sldId id="272" r:id="rId8"/>
    <p:sldId id="274" r:id="rId9"/>
    <p:sldId id="275" r:id="rId10"/>
    <p:sldId id="263" r:id="rId11"/>
    <p:sldId id="264" r:id="rId12"/>
    <p:sldId id="265" r:id="rId13"/>
    <p:sldId id="26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3D0964-993B-48C1-8C79-134666830E81}" v="41" dt="2026-02-01T05:08:39.5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726813-049F-4B01-BA98-D2CD75F1B760}" type="datetimeFigureOut">
              <a:rPr lang="en-SG" smtClean="0"/>
              <a:t>1/2/2026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80F7EA-8082-41AA-8B87-673CE422F569}" type="slidenum">
              <a:rPr lang="en-SG" smtClean="0"/>
              <a:t>‹#›</a:t>
            </a:fld>
            <a:endParaRPr lang="en-SG"/>
          </a:p>
        </p:txBody>
      </p:sp>
    </p:spTree>
    <p:extLst>
      <p:ext uri="{BB962C8B-B14F-4D97-AF65-F5344CB8AC3E}">
        <p14:creationId xmlns:p14="http://schemas.microsoft.com/office/powerpoint/2010/main" val="28510804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DB80F7EA-8082-41AA-8B87-673CE422F569}" type="slidenum">
              <a:rPr lang="en-SG" smtClean="0"/>
              <a:t>5</a:t>
            </a:fld>
            <a:endParaRPr lang="en-SG"/>
          </a:p>
        </p:txBody>
      </p:sp>
    </p:spTree>
    <p:extLst>
      <p:ext uri="{BB962C8B-B14F-4D97-AF65-F5344CB8AC3E}">
        <p14:creationId xmlns:p14="http://schemas.microsoft.com/office/powerpoint/2010/main" val="4071871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DB80F7EA-8082-41AA-8B87-673CE422F569}" type="slidenum">
              <a:rPr lang="en-SG" smtClean="0"/>
              <a:t>10</a:t>
            </a:fld>
            <a:endParaRPr lang="en-SG"/>
          </a:p>
        </p:txBody>
      </p:sp>
    </p:spTree>
    <p:extLst>
      <p:ext uri="{BB962C8B-B14F-4D97-AF65-F5344CB8AC3E}">
        <p14:creationId xmlns:p14="http://schemas.microsoft.com/office/powerpoint/2010/main" val="34151482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A0831-4B01-023B-B0AF-FF0C2619A2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950959-162A-01BF-550C-EA27B053B2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BF29E1-3497-F45D-8006-7F23A9444235}"/>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6BDEB616-10CA-B097-D807-BCA4B7019E60}"/>
              </a:ext>
            </a:extLst>
          </p:cNvPr>
          <p:cNvSpPr>
            <a:spLocks noGrp="1"/>
          </p:cNvSpPr>
          <p:nvPr>
            <p:ph type="sldNum" sz="quarter" idx="5"/>
          </p:nvPr>
        </p:nvSpPr>
        <p:spPr/>
        <p:txBody>
          <a:bodyPr/>
          <a:lstStyle/>
          <a:p>
            <a:fld id="{DB80F7EA-8082-41AA-8B87-673CE422F569}" type="slidenum">
              <a:rPr lang="en-SG" smtClean="0"/>
              <a:t>11</a:t>
            </a:fld>
            <a:endParaRPr lang="en-SG"/>
          </a:p>
        </p:txBody>
      </p:sp>
    </p:spTree>
    <p:extLst>
      <p:ext uri="{BB962C8B-B14F-4D97-AF65-F5344CB8AC3E}">
        <p14:creationId xmlns:p14="http://schemas.microsoft.com/office/powerpoint/2010/main" val="15646432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8C8F7-6079-7611-0C94-2A7A79ABCF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F6918-D714-F72C-4074-88DD470F96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6C394C-CB35-9662-F442-0AFEED3B3248}"/>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B3DD3689-B62D-092E-C0E4-8CE34D273799}"/>
              </a:ext>
            </a:extLst>
          </p:cNvPr>
          <p:cNvSpPr>
            <a:spLocks noGrp="1"/>
          </p:cNvSpPr>
          <p:nvPr>
            <p:ph type="sldNum" sz="quarter" idx="5"/>
          </p:nvPr>
        </p:nvSpPr>
        <p:spPr/>
        <p:txBody>
          <a:bodyPr/>
          <a:lstStyle/>
          <a:p>
            <a:fld id="{DB80F7EA-8082-41AA-8B87-673CE422F569}" type="slidenum">
              <a:rPr lang="en-SG" smtClean="0"/>
              <a:t>12</a:t>
            </a:fld>
            <a:endParaRPr lang="en-SG"/>
          </a:p>
        </p:txBody>
      </p:sp>
    </p:spTree>
    <p:extLst>
      <p:ext uri="{BB962C8B-B14F-4D97-AF65-F5344CB8AC3E}">
        <p14:creationId xmlns:p14="http://schemas.microsoft.com/office/powerpoint/2010/main" val="3184429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1DF3F-6EA6-7E45-D4E0-1A6419F206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BEF60A-2A96-E6E9-7852-589B887DEA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A7329D-45A5-4B4A-D231-921C8E4CA9BD}"/>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48CF7767-B2E9-57F7-4498-CE448C7A8548}"/>
              </a:ext>
            </a:extLst>
          </p:cNvPr>
          <p:cNvSpPr>
            <a:spLocks noGrp="1"/>
          </p:cNvSpPr>
          <p:nvPr>
            <p:ph type="sldNum" sz="quarter" idx="5"/>
          </p:nvPr>
        </p:nvSpPr>
        <p:spPr/>
        <p:txBody>
          <a:bodyPr/>
          <a:lstStyle/>
          <a:p>
            <a:fld id="{DB80F7EA-8082-41AA-8B87-673CE422F569}" type="slidenum">
              <a:rPr lang="en-SG" smtClean="0"/>
              <a:t>13</a:t>
            </a:fld>
            <a:endParaRPr lang="en-SG"/>
          </a:p>
        </p:txBody>
      </p:sp>
    </p:spTree>
    <p:extLst>
      <p:ext uri="{BB962C8B-B14F-4D97-AF65-F5344CB8AC3E}">
        <p14:creationId xmlns:p14="http://schemas.microsoft.com/office/powerpoint/2010/main" val="1766417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541B7A57-F54D-4FED-AAC8-717192E7431D}" type="datetimeFigureOut">
              <a:rPr lang="en-SG" smtClean="0"/>
              <a:t>1/2/2026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80DC947B-8FE3-419E-A874-CB3EA7ADBADA}" type="slidenum">
              <a:rPr lang="en-SG" smtClean="0"/>
              <a:t>‹#›</a:t>
            </a:fld>
            <a:endParaRPr lang="en-SG"/>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7949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1B7A57-F54D-4FED-AAC8-717192E7431D}" type="datetimeFigureOut">
              <a:rPr lang="en-SG" smtClean="0"/>
              <a:t>1/2/2026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80DC947B-8FE3-419E-A874-CB3EA7ADBADA}" type="slidenum">
              <a:rPr lang="en-SG" smtClean="0"/>
              <a:t>‹#›</a:t>
            </a:fld>
            <a:endParaRPr lang="en-SG"/>
          </a:p>
        </p:txBody>
      </p:sp>
    </p:spTree>
    <p:extLst>
      <p:ext uri="{BB962C8B-B14F-4D97-AF65-F5344CB8AC3E}">
        <p14:creationId xmlns:p14="http://schemas.microsoft.com/office/powerpoint/2010/main" val="2980340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1B7A57-F54D-4FED-AAC8-717192E7431D}" type="datetimeFigureOut">
              <a:rPr lang="en-SG" smtClean="0"/>
              <a:t>1/2/2026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80DC947B-8FE3-419E-A874-CB3EA7ADBADA}" type="slidenum">
              <a:rPr lang="en-SG" smtClean="0"/>
              <a:t>‹#›</a:t>
            </a:fld>
            <a:endParaRPr lang="en-SG"/>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4169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41B7A57-F54D-4FED-AAC8-717192E7431D}" type="datetimeFigureOut">
              <a:rPr lang="en-SG" smtClean="0"/>
              <a:t>1/2/2026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80DC947B-8FE3-419E-A874-CB3EA7ADBADA}" type="slidenum">
              <a:rPr lang="en-SG" smtClean="0"/>
              <a:t>‹#›</a:t>
            </a:fld>
            <a:endParaRPr lang="en-SG"/>
          </a:p>
        </p:txBody>
      </p:sp>
    </p:spTree>
    <p:extLst>
      <p:ext uri="{BB962C8B-B14F-4D97-AF65-F5344CB8AC3E}">
        <p14:creationId xmlns:p14="http://schemas.microsoft.com/office/powerpoint/2010/main" val="1334798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41B7A57-F54D-4FED-AAC8-717192E7431D}" type="datetimeFigureOut">
              <a:rPr lang="en-SG" smtClean="0"/>
              <a:t>1/2/2026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80DC947B-8FE3-419E-A874-CB3EA7ADBADA}" type="slidenum">
              <a:rPr lang="en-SG" smtClean="0"/>
              <a:t>‹#›</a:t>
            </a:fld>
            <a:endParaRPr lang="en-SG"/>
          </a:p>
        </p:txBody>
      </p:sp>
    </p:spTree>
    <p:extLst>
      <p:ext uri="{BB962C8B-B14F-4D97-AF65-F5344CB8AC3E}">
        <p14:creationId xmlns:p14="http://schemas.microsoft.com/office/powerpoint/2010/main" val="1766863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41B7A57-F54D-4FED-AAC8-717192E7431D}" type="datetimeFigureOut">
              <a:rPr lang="en-SG" smtClean="0"/>
              <a:t>1/2/2026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80DC947B-8FE3-419E-A874-CB3EA7ADBADA}" type="slidenum">
              <a:rPr lang="en-SG" smtClean="0"/>
              <a:t>‹#›</a:t>
            </a:fld>
            <a:endParaRPr lang="en-SG"/>
          </a:p>
        </p:txBody>
      </p:sp>
    </p:spTree>
    <p:extLst>
      <p:ext uri="{BB962C8B-B14F-4D97-AF65-F5344CB8AC3E}">
        <p14:creationId xmlns:p14="http://schemas.microsoft.com/office/powerpoint/2010/main" val="3521327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7" name="Date Placeholder 6"/>
          <p:cNvSpPr>
            <a:spLocks noGrp="1"/>
          </p:cNvSpPr>
          <p:nvPr>
            <p:ph type="dt" sz="half" idx="10"/>
          </p:nvPr>
        </p:nvSpPr>
        <p:spPr/>
        <p:txBody>
          <a:bodyPr/>
          <a:lstStyle/>
          <a:p>
            <a:fld id="{541B7A57-F54D-4FED-AAC8-717192E7431D}" type="datetimeFigureOut">
              <a:rPr lang="en-SG" smtClean="0"/>
              <a:t>1/2/2026</a:t>
            </a:fld>
            <a:endParaRPr lang="en-SG"/>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SG"/>
          </a:p>
        </p:txBody>
      </p:sp>
      <p:sp>
        <p:nvSpPr>
          <p:cNvPr id="9" name="Slide Number Placeholder 8"/>
          <p:cNvSpPr>
            <a:spLocks noGrp="1"/>
          </p:cNvSpPr>
          <p:nvPr>
            <p:ph type="sldNum" sz="quarter" idx="12"/>
          </p:nvPr>
        </p:nvSpPr>
        <p:spPr/>
        <p:txBody>
          <a:bodyPr/>
          <a:lstStyle/>
          <a:p>
            <a:fld id="{80DC947B-8FE3-419E-A874-CB3EA7ADBADA}" type="slidenum">
              <a:rPr lang="en-SG" smtClean="0"/>
              <a:t>‹#›</a:t>
            </a:fld>
            <a:endParaRPr lang="en-SG"/>
          </a:p>
        </p:txBody>
      </p:sp>
    </p:spTree>
    <p:extLst>
      <p:ext uri="{BB962C8B-B14F-4D97-AF65-F5344CB8AC3E}">
        <p14:creationId xmlns:p14="http://schemas.microsoft.com/office/powerpoint/2010/main" val="4189829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41B7A57-F54D-4FED-AAC8-717192E7431D}" type="datetimeFigureOut">
              <a:rPr lang="en-SG" smtClean="0"/>
              <a:t>1/2/2026</a:t>
            </a:fld>
            <a:endParaRPr lang="en-SG"/>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SG"/>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0DC947B-8FE3-419E-A874-CB3EA7ADBADA}" type="slidenum">
              <a:rPr lang="en-SG" smtClean="0"/>
              <a:t>‹#›</a:t>
            </a:fld>
            <a:endParaRPr lang="en-SG"/>
          </a:p>
        </p:txBody>
      </p:sp>
    </p:spTree>
    <p:extLst>
      <p:ext uri="{BB962C8B-B14F-4D97-AF65-F5344CB8AC3E}">
        <p14:creationId xmlns:p14="http://schemas.microsoft.com/office/powerpoint/2010/main" val="727959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41B7A57-F54D-4FED-AAC8-717192E7431D}" type="datetimeFigureOut">
              <a:rPr lang="en-SG" smtClean="0"/>
              <a:t>1/2/2026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80DC947B-8FE3-419E-A874-CB3EA7ADBADA}" type="slidenum">
              <a:rPr lang="en-SG" smtClean="0"/>
              <a:t>‹#›</a:t>
            </a:fld>
            <a:endParaRPr lang="en-SG"/>
          </a:p>
        </p:txBody>
      </p:sp>
    </p:spTree>
    <p:extLst>
      <p:ext uri="{BB962C8B-B14F-4D97-AF65-F5344CB8AC3E}">
        <p14:creationId xmlns:p14="http://schemas.microsoft.com/office/powerpoint/2010/main" val="2259358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1B7A57-F54D-4FED-AAC8-717192E7431D}" type="datetimeFigureOut">
              <a:rPr lang="en-SG" smtClean="0"/>
              <a:t>1/2/2026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80DC947B-8FE3-419E-A874-CB3EA7ADBADA}" type="slidenum">
              <a:rPr lang="en-SG" smtClean="0"/>
              <a:t>‹#›</a:t>
            </a:fld>
            <a:endParaRPr lang="en-SG"/>
          </a:p>
        </p:txBody>
      </p:sp>
    </p:spTree>
    <p:extLst>
      <p:ext uri="{BB962C8B-B14F-4D97-AF65-F5344CB8AC3E}">
        <p14:creationId xmlns:p14="http://schemas.microsoft.com/office/powerpoint/2010/main" val="34970250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1B7A57-F54D-4FED-AAC8-717192E7431D}" type="datetimeFigureOut">
              <a:rPr lang="en-SG" smtClean="0"/>
              <a:t>1/2/2026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80DC947B-8FE3-419E-A874-CB3EA7ADBADA}" type="slidenum">
              <a:rPr lang="en-SG" smtClean="0"/>
              <a:t>‹#›</a:t>
            </a:fld>
            <a:endParaRPr lang="en-SG"/>
          </a:p>
        </p:txBody>
      </p:sp>
    </p:spTree>
    <p:extLst>
      <p:ext uri="{BB962C8B-B14F-4D97-AF65-F5344CB8AC3E}">
        <p14:creationId xmlns:p14="http://schemas.microsoft.com/office/powerpoint/2010/main" val="896803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41B7A57-F54D-4FED-AAC8-717192E7431D}" type="datetimeFigureOut">
              <a:rPr lang="en-SG" smtClean="0"/>
              <a:t>1/2/2026</a:t>
            </a:fld>
            <a:endParaRPr lang="en-SG"/>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SG"/>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0DC947B-8FE3-419E-A874-CB3EA7ADBADA}" type="slidenum">
              <a:rPr lang="en-SG" smtClean="0"/>
              <a:t>‹#›</a:t>
            </a:fld>
            <a:endParaRPr lang="en-SG"/>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42661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localhost:8888/notebooks/AIML_Lab/CA2%20Draft.ipynb?#How-does-gender-shape-work%E2%80%91life-balance-through-differences-in-working-hours?"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stats.mom.gov.sg/iMAS_Tables1/LabourForce/LabourForce_2023/LFR2023_SectionF.xlsx" TargetMode="External"/><Relationship Id="rId2" Type="http://schemas.openxmlformats.org/officeDocument/2006/relationships/hyperlink" Target="https://splms.polite.edu.sg/d2l/le/dropbox/777145/695157/DownloadAttachment?fid=75856992" TargetMode="External"/><Relationship Id="rId1" Type="http://schemas.openxmlformats.org/officeDocument/2006/relationships/slideLayout" Target="../slideLayouts/slideLayout2.xml"/><Relationship Id="rId4" Type="http://schemas.openxmlformats.org/officeDocument/2006/relationships/hyperlink" Target="https://data.gov.sg/datasets/d_ca7a8eedf7b8cbe05d5a140a6dc9fc3c/view"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C6E698C-8155-4B8B-BDC9-B7299772B5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C7C6E4-02D4-B98E-206D-FDC7D75FC4F0}"/>
              </a:ext>
            </a:extLst>
          </p:cNvPr>
          <p:cNvSpPr>
            <a:spLocks noGrp="1"/>
          </p:cNvSpPr>
          <p:nvPr>
            <p:ph type="ctrTitle"/>
          </p:nvPr>
        </p:nvSpPr>
        <p:spPr>
          <a:xfrm>
            <a:off x="5220928" y="965200"/>
            <a:ext cx="5999002" cy="4927600"/>
          </a:xfrm>
        </p:spPr>
        <p:txBody>
          <a:bodyPr anchor="ctr">
            <a:normAutofit/>
          </a:bodyPr>
          <a:lstStyle/>
          <a:p>
            <a:r>
              <a:rPr lang="en-US" sz="3200" b="1">
                <a:solidFill>
                  <a:schemeClr val="tx2"/>
                </a:solidFill>
              </a:rPr>
              <a:t>What career outcomes can graduates expect in Singapore, based on their degree choice and gender?</a:t>
            </a:r>
            <a:br>
              <a:rPr lang="en-US" sz="2600" b="1">
                <a:solidFill>
                  <a:schemeClr val="tx2"/>
                </a:solidFill>
              </a:rPr>
            </a:br>
            <a:br>
              <a:rPr lang="en-US" sz="2600" b="1">
                <a:solidFill>
                  <a:schemeClr val="tx2"/>
                </a:solidFill>
              </a:rPr>
            </a:br>
            <a:r>
              <a:rPr lang="en-US" sz="2600" b="1">
                <a:solidFill>
                  <a:schemeClr val="tx2"/>
                </a:solidFill>
              </a:rPr>
              <a:t>Sub-questions:</a:t>
            </a:r>
            <a:br>
              <a:rPr lang="en-US" sz="2600" b="1">
                <a:solidFill>
                  <a:schemeClr val="tx2"/>
                </a:solidFill>
              </a:rPr>
            </a:br>
            <a:r>
              <a:rPr lang="en-US" sz="2600">
                <a:solidFill>
                  <a:schemeClr val="tx2"/>
                </a:solidFill>
              </a:rPr>
              <a:t>How do different degrees influence salary outcomes and extra benefits?</a:t>
            </a:r>
            <a:br>
              <a:rPr lang="en-US" sz="2600">
                <a:solidFill>
                  <a:schemeClr val="tx2"/>
                </a:solidFill>
              </a:rPr>
            </a:br>
            <a:br>
              <a:rPr lang="en-US" sz="2600">
                <a:solidFill>
                  <a:schemeClr val="tx2"/>
                </a:solidFill>
              </a:rPr>
            </a:br>
            <a:r>
              <a:rPr lang="en-US" sz="2600">
                <a:solidFill>
                  <a:schemeClr val="tx2"/>
                </a:solidFill>
              </a:rPr>
              <a:t>How does gender affect employment rates?</a:t>
            </a:r>
            <a:br>
              <a:rPr lang="en-US" sz="2600">
                <a:solidFill>
                  <a:schemeClr val="tx2"/>
                </a:solidFill>
              </a:rPr>
            </a:br>
            <a:br>
              <a:rPr lang="en-US" sz="2600">
                <a:solidFill>
                  <a:schemeClr val="tx2"/>
                </a:solidFill>
              </a:rPr>
            </a:br>
            <a:r>
              <a:rPr lang="en-US" sz="2600">
                <a:solidFill>
                  <a:schemeClr val="tx2"/>
                </a:solidFill>
              </a:rPr>
              <a:t>How does gender shape work‑life balance through differences in working hours?</a:t>
            </a:r>
            <a:r>
              <a:rPr lang="en-US" sz="2600" u="sng">
                <a:solidFill>
                  <a:schemeClr val="tx2"/>
                </a:solidFill>
                <a:hlinkClick r:id="rId2"/>
              </a:rPr>
              <a:t>¶</a:t>
            </a:r>
            <a:endParaRPr lang="en-SG" sz="2600">
              <a:solidFill>
                <a:schemeClr val="tx2"/>
              </a:solidFill>
            </a:endParaRPr>
          </a:p>
        </p:txBody>
      </p:sp>
      <p:sp>
        <p:nvSpPr>
          <p:cNvPr id="21" name="Rectangle 20">
            <a:extLst>
              <a:ext uri="{FF2B5EF4-FFF2-40B4-BE49-F238E27FC236}">
                <a16:creationId xmlns:a16="http://schemas.microsoft.com/office/drawing/2014/main" id="{0EEF5601-A8BC-411D-AA64-3E79320BA1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3" name="Subtitle 2">
            <a:extLst>
              <a:ext uri="{FF2B5EF4-FFF2-40B4-BE49-F238E27FC236}">
                <a16:creationId xmlns:a16="http://schemas.microsoft.com/office/drawing/2014/main" id="{E833F83D-4AFB-5DCB-6157-F256E548820D}"/>
              </a:ext>
            </a:extLst>
          </p:cNvPr>
          <p:cNvSpPr>
            <a:spLocks noGrp="1"/>
          </p:cNvSpPr>
          <p:nvPr>
            <p:ph type="subTitle" idx="1"/>
          </p:nvPr>
        </p:nvSpPr>
        <p:spPr>
          <a:xfrm>
            <a:off x="823355" y="1159565"/>
            <a:ext cx="3266323" cy="4439055"/>
          </a:xfrm>
        </p:spPr>
        <p:txBody>
          <a:bodyPr anchor="ctr">
            <a:normAutofit/>
          </a:bodyPr>
          <a:lstStyle/>
          <a:p>
            <a:r>
              <a:rPr lang="en-SG">
                <a:solidFill>
                  <a:srgbClr val="FFFFFF"/>
                </a:solidFill>
              </a:rPr>
              <a:t>YAN MYOE NAING</a:t>
            </a:r>
          </a:p>
          <a:p>
            <a:r>
              <a:rPr lang="en-SG">
                <a:solidFill>
                  <a:srgbClr val="FFFFFF"/>
                </a:solidFill>
              </a:rPr>
              <a:t>TAN HANG RUI RILEY</a:t>
            </a:r>
          </a:p>
          <a:p>
            <a:endParaRPr lang="en-SG">
              <a:solidFill>
                <a:srgbClr val="FFFFFF"/>
              </a:solidFill>
            </a:endParaRPr>
          </a:p>
          <a:p>
            <a:endParaRPr lang="en-SG">
              <a:solidFill>
                <a:srgbClr val="FFFFFF"/>
              </a:solidFill>
            </a:endParaRPr>
          </a:p>
          <a:p>
            <a:r>
              <a:rPr lang="en-SG">
                <a:solidFill>
                  <a:schemeClr val="bg1">
                    <a:lumMod val="95000"/>
                  </a:schemeClr>
                </a:solidFill>
              </a:rPr>
              <a:t>ST1510 Programming for Data Analytics</a:t>
            </a:r>
          </a:p>
        </p:txBody>
      </p:sp>
      <p:sp>
        <p:nvSpPr>
          <p:cNvPr id="22" name="Rectangle 21">
            <a:extLst>
              <a:ext uri="{FF2B5EF4-FFF2-40B4-BE49-F238E27FC236}">
                <a16:creationId xmlns:a16="http://schemas.microsoft.com/office/drawing/2014/main" id="{33209156-242F-4B26-8D07-CEB2B68A9F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4734"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Tree>
    <p:extLst>
      <p:ext uri="{BB962C8B-B14F-4D97-AF65-F5344CB8AC3E}">
        <p14:creationId xmlns:p14="http://schemas.microsoft.com/office/powerpoint/2010/main" val="928922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19" name="Title 1">
            <a:extLst>
              <a:ext uri="{FF2B5EF4-FFF2-40B4-BE49-F238E27FC236}">
                <a16:creationId xmlns:a16="http://schemas.microsoft.com/office/drawing/2014/main" id="{6F787B88-B413-FFF1-1314-0E616FF1F9AF}"/>
              </a:ext>
            </a:extLst>
          </p:cNvPr>
          <p:cNvSpPr>
            <a:spLocks noGrp="1"/>
          </p:cNvSpPr>
          <p:nvPr>
            <p:ph type="title"/>
          </p:nvPr>
        </p:nvSpPr>
        <p:spPr>
          <a:xfrm>
            <a:off x="492370" y="516835"/>
            <a:ext cx="3084844" cy="2103875"/>
          </a:xfrm>
        </p:spPr>
        <p:txBody>
          <a:bodyPr vert="horz" lIns="91440" tIns="45720" rIns="91440" bIns="45720" rtlCol="0">
            <a:normAutofit/>
          </a:bodyPr>
          <a:lstStyle/>
          <a:p>
            <a:r>
              <a:rPr lang="en-US" sz="3600">
                <a:solidFill>
                  <a:srgbClr val="FFFFFF"/>
                </a:solidFill>
              </a:rPr>
              <a:t>UI path Features</a:t>
            </a:r>
          </a:p>
        </p:txBody>
      </p:sp>
      <p:sp>
        <p:nvSpPr>
          <p:cNvPr id="6" name="Content Placeholder 2">
            <a:extLst>
              <a:ext uri="{FF2B5EF4-FFF2-40B4-BE49-F238E27FC236}">
                <a16:creationId xmlns:a16="http://schemas.microsoft.com/office/drawing/2014/main" id="{D2789770-0809-43AB-74F4-621655C22572}"/>
              </a:ext>
            </a:extLst>
          </p:cNvPr>
          <p:cNvSpPr>
            <a:spLocks noGrp="1"/>
          </p:cNvSpPr>
          <p:nvPr>
            <p:ph idx="1"/>
          </p:nvPr>
        </p:nvSpPr>
        <p:spPr>
          <a:xfrm>
            <a:off x="492371" y="2653800"/>
            <a:ext cx="3084844" cy="3335519"/>
          </a:xfrm>
        </p:spPr>
        <p:txBody>
          <a:bodyPr>
            <a:normAutofit/>
          </a:bodyPr>
          <a:lstStyle/>
          <a:p>
            <a:pPr marL="457200" indent="-457200">
              <a:buFont typeface="+mj-lt"/>
              <a:buAutoNum type="arabicPeriod"/>
            </a:pPr>
            <a:r>
              <a:rPr lang="en-SG" sz="1500">
                <a:solidFill>
                  <a:srgbClr val="FFFFFF"/>
                </a:solidFill>
              </a:rPr>
              <a:t>Download CA2 dataset from Brightspace.</a:t>
            </a:r>
          </a:p>
          <a:p>
            <a:pPr marL="457200" indent="-457200">
              <a:buFont typeface="+mj-lt"/>
              <a:buAutoNum type="arabicPeriod"/>
            </a:pPr>
            <a:r>
              <a:rPr lang="en-SG" sz="1500">
                <a:solidFill>
                  <a:srgbClr val="FFFFFF"/>
                </a:solidFill>
              </a:rPr>
              <a:t>Open excel file from mom.gov.sg</a:t>
            </a:r>
          </a:p>
          <a:p>
            <a:pPr marL="457200" indent="-457200">
              <a:buFont typeface="+mj-lt"/>
              <a:buAutoNum type="arabicPeriod"/>
            </a:pPr>
            <a:r>
              <a:rPr lang="en-SG" sz="1500">
                <a:solidFill>
                  <a:srgbClr val="FFFFFF"/>
                </a:solidFill>
              </a:rPr>
              <a:t>Save the excel file</a:t>
            </a:r>
          </a:p>
          <a:p>
            <a:pPr marL="457200" indent="-457200">
              <a:buFont typeface="+mj-lt"/>
              <a:buAutoNum type="arabicPeriod"/>
            </a:pPr>
            <a:r>
              <a:rPr lang="en-SG" sz="1500">
                <a:solidFill>
                  <a:srgbClr val="FFFFFF"/>
                </a:solidFill>
              </a:rPr>
              <a:t>Download External dataset </a:t>
            </a:r>
          </a:p>
          <a:p>
            <a:pPr marL="457200" indent="-457200">
              <a:buFont typeface="+mj-lt"/>
              <a:buAutoNum type="arabicPeriod"/>
            </a:pPr>
            <a:r>
              <a:rPr lang="en-SG" sz="1500">
                <a:solidFill>
                  <a:srgbClr val="FFFFFF"/>
                </a:solidFill>
              </a:rPr>
              <a:t>Extract(unzip) the CA2 dataset from step 1</a:t>
            </a:r>
          </a:p>
          <a:p>
            <a:pPr marL="457200" indent="-457200">
              <a:buFont typeface="+mj-lt"/>
              <a:buAutoNum type="arabicPeriod"/>
            </a:pPr>
            <a:r>
              <a:rPr lang="en-SG" sz="1500">
                <a:solidFill>
                  <a:srgbClr val="FFFFFF"/>
                </a:solidFill>
              </a:rPr>
              <a:t>Run Python file with start process</a:t>
            </a:r>
          </a:p>
          <a:p>
            <a:pPr marL="457200" indent="-457200">
              <a:buFont typeface="+mj-lt"/>
              <a:buAutoNum type="arabicPeriod"/>
            </a:pPr>
            <a:r>
              <a:rPr lang="en-SG" sz="1500">
                <a:solidFill>
                  <a:srgbClr val="FFFFFF"/>
                </a:solidFill>
              </a:rPr>
              <a:t>Send mail from outlook</a:t>
            </a:r>
          </a:p>
        </p:txBody>
      </p:sp>
      <p:sp>
        <p:nvSpPr>
          <p:cNvPr id="68" name="Rectangle 67">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pic>
        <p:nvPicPr>
          <p:cNvPr id="4" name="CA2_UiPath">
            <a:hlinkClick r:id="" action="ppaction://media"/>
            <a:extLst>
              <a:ext uri="{FF2B5EF4-FFF2-40B4-BE49-F238E27FC236}">
                <a16:creationId xmlns:a16="http://schemas.microsoft.com/office/drawing/2014/main" id="{D65786E5-3842-FCA9-B435-C36F9BCA8415}"/>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385208" y="1316335"/>
            <a:ext cx="7592089" cy="4270550"/>
          </a:xfrm>
          <a:prstGeom prst="rect">
            <a:avLst/>
          </a:prstGeom>
        </p:spPr>
      </p:pic>
    </p:spTree>
    <p:extLst>
      <p:ext uri="{BB962C8B-B14F-4D97-AF65-F5344CB8AC3E}">
        <p14:creationId xmlns:p14="http://schemas.microsoft.com/office/powerpoint/2010/main" val="1148895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166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6C790-5819-14E3-1087-6CBA452DCAA4}"/>
              </a:ext>
            </a:extLst>
          </p:cNvPr>
          <p:cNvSpPr>
            <a:spLocks noGrp="1"/>
          </p:cNvSpPr>
          <p:nvPr>
            <p:ph type="title"/>
          </p:nvPr>
        </p:nvSpPr>
        <p:spPr/>
        <p:txBody>
          <a:bodyPr/>
          <a:lstStyle/>
          <a:p>
            <a:r>
              <a:rPr lang="en-SG"/>
              <a:t>Resources</a:t>
            </a:r>
          </a:p>
        </p:txBody>
      </p:sp>
      <p:sp>
        <p:nvSpPr>
          <p:cNvPr id="3" name="Content Placeholder 2">
            <a:extLst>
              <a:ext uri="{FF2B5EF4-FFF2-40B4-BE49-F238E27FC236}">
                <a16:creationId xmlns:a16="http://schemas.microsoft.com/office/drawing/2014/main" id="{E04D6B1C-5AFF-732F-43EB-D48DDDF70E04}"/>
              </a:ext>
            </a:extLst>
          </p:cNvPr>
          <p:cNvSpPr>
            <a:spLocks noGrp="1"/>
          </p:cNvSpPr>
          <p:nvPr>
            <p:ph idx="1"/>
          </p:nvPr>
        </p:nvSpPr>
        <p:spPr/>
        <p:txBody>
          <a:bodyPr/>
          <a:lstStyle/>
          <a:p>
            <a:r>
              <a:rPr lang="en-SG"/>
              <a:t>ca2_df1, ca2_df2</a:t>
            </a:r>
          </a:p>
          <a:p>
            <a:r>
              <a:rPr lang="en-SG">
                <a:hlinkClick r:id="rId2"/>
              </a:rPr>
              <a:t>https://splms.polite.edu.sg/d2l/le/dropbox/777145/695157/DownloadAttachment?fid=75856992</a:t>
            </a:r>
            <a:endParaRPr lang="en-SG"/>
          </a:p>
          <a:p>
            <a:endParaRPr lang="en-SG"/>
          </a:p>
          <a:p>
            <a:r>
              <a:rPr lang="en-SG" err="1"/>
              <a:t>mom_df</a:t>
            </a:r>
            <a:endParaRPr lang="en-SG"/>
          </a:p>
          <a:p>
            <a:r>
              <a:rPr lang="en-SG">
                <a:hlinkClick r:id="rId3"/>
              </a:rPr>
              <a:t>https://stats.mom.gov.sg/iMAS_Tables1/LabourForce/LabourForce_2023/LFR2023_SectionF.xlsx</a:t>
            </a:r>
            <a:endParaRPr lang="en-SG"/>
          </a:p>
          <a:p>
            <a:endParaRPr lang="en-SG"/>
          </a:p>
          <a:p>
            <a:r>
              <a:rPr lang="en-SG"/>
              <a:t>external_df</a:t>
            </a:r>
          </a:p>
          <a:p>
            <a:r>
              <a:rPr lang="en-US">
                <a:hlinkClick r:id="rId4"/>
              </a:rPr>
              <a:t>Employment Rate of Residents Aged 25 to 64 by Sex | MOM | data.gov.sg</a:t>
            </a:r>
            <a:endParaRPr lang="en-US"/>
          </a:p>
          <a:p>
            <a:endParaRPr lang="en-SG"/>
          </a:p>
          <a:p>
            <a:endParaRPr lang="en-SG"/>
          </a:p>
          <a:p>
            <a:endParaRPr lang="en-SG"/>
          </a:p>
        </p:txBody>
      </p:sp>
    </p:spTree>
    <p:extLst>
      <p:ext uri="{BB962C8B-B14F-4D97-AF65-F5344CB8AC3E}">
        <p14:creationId xmlns:p14="http://schemas.microsoft.com/office/powerpoint/2010/main" val="3520292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Dataset 1 – Importing and Inspecting Data</a:t>
            </a:r>
          </a:p>
        </p:txBody>
      </p:sp>
      <p:sp>
        <p:nvSpPr>
          <p:cNvPr id="3" name="Content Placeholder 2"/>
          <p:cNvSpPr>
            <a:spLocks noGrp="1"/>
          </p:cNvSpPr>
          <p:nvPr>
            <p:ph idx="1"/>
          </p:nvPr>
        </p:nvSpPr>
        <p:spPr/>
        <p:txBody>
          <a:bodyPr/>
          <a:lstStyle/>
          <a:p>
            <a:r>
              <a:t>Imported dataset into a Pandas </a:t>
            </a:r>
            <a:r>
              <a:rPr err="1"/>
              <a:t>DataFrame</a:t>
            </a:r>
            <a:endParaRPr/>
          </a:p>
          <a:p>
            <a:r>
              <a:t>Used .head() and .info() to review structure and data types</a:t>
            </a:r>
          </a:p>
          <a:p>
            <a:r>
              <a:t>Identified key variables: degree, salary, extra benefits</a:t>
            </a:r>
          </a:p>
          <a:p>
            <a:r>
              <a:t>Performed initial type conversion for salary-related columns</a:t>
            </a:r>
          </a:p>
          <a:p>
            <a:r>
              <a:rPr lang="en-SG"/>
              <a:t>Dropped blank columns and row using </a:t>
            </a:r>
            <a:r>
              <a:rPr lang="en-SG" err="1"/>
              <a:t>dropna</a:t>
            </a:r>
            <a:endParaRPr lang="en-SG"/>
          </a:p>
          <a:p>
            <a:endParaRPr/>
          </a:p>
        </p:txBody>
      </p:sp>
      <p:pic>
        <p:nvPicPr>
          <p:cNvPr id="5" name="Picture 4">
            <a:extLst>
              <a:ext uri="{FF2B5EF4-FFF2-40B4-BE49-F238E27FC236}">
                <a16:creationId xmlns:a16="http://schemas.microsoft.com/office/drawing/2014/main" id="{1871A646-C620-07BE-4E24-F2C5631F2AAD}"/>
              </a:ext>
            </a:extLst>
          </p:cNvPr>
          <p:cNvPicPr>
            <a:picLocks noChangeAspect="1"/>
          </p:cNvPicPr>
          <p:nvPr/>
        </p:nvPicPr>
        <p:blipFill>
          <a:blip r:embed="rId2"/>
          <a:stretch>
            <a:fillRect/>
          </a:stretch>
        </p:blipFill>
        <p:spPr>
          <a:xfrm>
            <a:off x="1221969" y="4184179"/>
            <a:ext cx="3983077" cy="2286735"/>
          </a:xfrm>
          <a:prstGeom prst="rect">
            <a:avLst/>
          </a:prstGeom>
        </p:spPr>
      </p:pic>
      <p:pic>
        <p:nvPicPr>
          <p:cNvPr id="7" name="Picture 6">
            <a:extLst>
              <a:ext uri="{FF2B5EF4-FFF2-40B4-BE49-F238E27FC236}">
                <a16:creationId xmlns:a16="http://schemas.microsoft.com/office/drawing/2014/main" id="{7902BD6F-16B7-A87D-BD4E-440872238CB3}"/>
              </a:ext>
            </a:extLst>
          </p:cNvPr>
          <p:cNvPicPr>
            <a:picLocks noChangeAspect="1"/>
          </p:cNvPicPr>
          <p:nvPr/>
        </p:nvPicPr>
        <p:blipFill>
          <a:blip r:embed="rId3"/>
          <a:stretch>
            <a:fillRect/>
          </a:stretch>
        </p:blipFill>
        <p:spPr>
          <a:xfrm>
            <a:off x="5346482" y="4237446"/>
            <a:ext cx="6258798" cy="233395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E5958DBC-F4DA-42A8-8C52-860179790E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44679" y="634946"/>
            <a:ext cx="6405063" cy="1450757"/>
          </a:xfrm>
        </p:spPr>
        <p:txBody>
          <a:bodyPr>
            <a:normAutofit/>
          </a:bodyPr>
          <a:lstStyle/>
          <a:p>
            <a:r>
              <a:rPr lang="en-SG" sz="4400"/>
              <a:t>Dataset 1 – Standardisation and Preparation</a:t>
            </a:r>
          </a:p>
        </p:txBody>
      </p:sp>
      <p:pic>
        <p:nvPicPr>
          <p:cNvPr id="9" name="Picture 8">
            <a:extLst>
              <a:ext uri="{FF2B5EF4-FFF2-40B4-BE49-F238E27FC236}">
                <a16:creationId xmlns:a16="http://schemas.microsoft.com/office/drawing/2014/main" id="{12B097D0-A794-0ECB-84FD-79FC2251C4F0}"/>
              </a:ext>
            </a:extLst>
          </p:cNvPr>
          <p:cNvPicPr>
            <a:picLocks noChangeAspect="1"/>
          </p:cNvPicPr>
          <p:nvPr/>
        </p:nvPicPr>
        <p:blipFill>
          <a:blip r:embed="rId3"/>
          <a:stretch>
            <a:fillRect/>
          </a:stretch>
        </p:blipFill>
        <p:spPr>
          <a:xfrm>
            <a:off x="873361" y="3529242"/>
            <a:ext cx="3407237" cy="2572463"/>
          </a:xfrm>
          <a:prstGeom prst="rect">
            <a:avLst/>
          </a:prstGeom>
        </p:spPr>
      </p:pic>
      <p:cxnSp>
        <p:nvCxnSpPr>
          <p:cNvPr id="16" name="Straight Connector 15">
            <a:extLst>
              <a:ext uri="{FF2B5EF4-FFF2-40B4-BE49-F238E27FC236}">
                <a16:creationId xmlns:a16="http://schemas.microsoft.com/office/drawing/2014/main" id="{79FCC9A9-2031-4283-9B27-34B62BB7F30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81247" y="2086188"/>
            <a:ext cx="5852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B779C806-0343-A9D6-555E-77ED4017F1DA}"/>
              </a:ext>
            </a:extLst>
          </p:cNvPr>
          <p:cNvPicPr>
            <a:picLocks noChangeAspect="1"/>
          </p:cNvPicPr>
          <p:nvPr/>
        </p:nvPicPr>
        <p:blipFill>
          <a:blip r:embed="rId4"/>
          <a:srcRect t="25880"/>
          <a:stretch>
            <a:fillRect/>
          </a:stretch>
        </p:blipFill>
        <p:spPr>
          <a:xfrm>
            <a:off x="873361" y="102090"/>
            <a:ext cx="3754983" cy="2650993"/>
          </a:xfrm>
          <a:prstGeom prst="rect">
            <a:avLst/>
          </a:prstGeom>
        </p:spPr>
      </p:pic>
      <p:sp>
        <p:nvSpPr>
          <p:cNvPr id="3" name="Content Placeholder 2"/>
          <p:cNvSpPr>
            <a:spLocks noGrp="1"/>
          </p:cNvSpPr>
          <p:nvPr>
            <p:ph idx="1"/>
          </p:nvPr>
        </p:nvSpPr>
        <p:spPr>
          <a:xfrm>
            <a:off x="5144679" y="2198914"/>
            <a:ext cx="6405063" cy="3670180"/>
          </a:xfrm>
        </p:spPr>
        <p:txBody>
          <a:bodyPr>
            <a:normAutofit lnSpcReduction="10000"/>
          </a:bodyPr>
          <a:lstStyle/>
          <a:p>
            <a:r>
              <a:rPr lang="en-US"/>
              <a:t>Merged the two tables using keys</a:t>
            </a:r>
          </a:p>
          <a:p>
            <a:r>
              <a:rPr lang="en-US"/>
              <a:t>Handled duplicated rows using </a:t>
            </a:r>
            <a:r>
              <a:rPr lang="en-US" err="1"/>
              <a:t>drop_duplicates</a:t>
            </a:r>
            <a:r>
              <a:rPr lang="en-US"/>
              <a:t>() and dropped duplicated columns.</a:t>
            </a:r>
          </a:p>
          <a:p>
            <a:r>
              <a:rPr lang="en-US"/>
              <a:t>Used lambda function to check for outliers.</a:t>
            </a:r>
          </a:p>
          <a:p>
            <a:r>
              <a:rPr lang="en-US"/>
              <a:t>Scaled year range to be 2013:2022 for all datasets.</a:t>
            </a:r>
          </a:p>
          <a:p>
            <a:r>
              <a:rPr lang="en-US"/>
              <a:t>Used </a:t>
            </a:r>
            <a:r>
              <a:rPr lang="en-US" err="1"/>
              <a:t>plt.hisplot</a:t>
            </a:r>
            <a:r>
              <a:rPr lang="en-US"/>
              <a:t> to figure out the frequencies of the degrees across the dataset. </a:t>
            </a:r>
          </a:p>
          <a:p>
            <a:r>
              <a:rPr lang="en-US"/>
              <a:t>Standardized degree names into broader groups for comparison</a:t>
            </a:r>
          </a:p>
          <a:p>
            <a:r>
              <a:rPr lang="en-US"/>
              <a:t>Calculated extra benefits for each rows for later use</a:t>
            </a:r>
          </a:p>
        </p:txBody>
      </p:sp>
      <p:sp>
        <p:nvSpPr>
          <p:cNvPr id="18" name="Rectangle 17">
            <a:extLst>
              <a:ext uri="{FF2B5EF4-FFF2-40B4-BE49-F238E27FC236}">
                <a16:creationId xmlns:a16="http://schemas.microsoft.com/office/drawing/2014/main" id="{51DDD252-D7C8-4CE5-9C61-D60D722BC2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0" name="Rectangle 19">
            <a:extLst>
              <a:ext uri="{FF2B5EF4-FFF2-40B4-BE49-F238E27FC236}">
                <a16:creationId xmlns:a16="http://schemas.microsoft.com/office/drawing/2014/main" id="{2FBD75F5-C49C-4F6A-8D43-7A5939C233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10" name="Content Placeholder 2">
            <a:extLst>
              <a:ext uri="{FF2B5EF4-FFF2-40B4-BE49-F238E27FC236}">
                <a16:creationId xmlns:a16="http://schemas.microsoft.com/office/drawing/2014/main" id="{46350980-B3D3-968A-37EF-0E125EE36605}"/>
              </a:ext>
            </a:extLst>
          </p:cNvPr>
          <p:cNvSpPr txBox="1">
            <a:spLocks/>
          </p:cNvSpPr>
          <p:nvPr/>
        </p:nvSpPr>
        <p:spPr>
          <a:xfrm>
            <a:off x="1186799" y="2753083"/>
            <a:ext cx="2780359" cy="400436"/>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a:t>Before grouping degrees </a:t>
            </a:r>
          </a:p>
        </p:txBody>
      </p:sp>
      <p:sp>
        <p:nvSpPr>
          <p:cNvPr id="11" name="Content Placeholder 2">
            <a:extLst>
              <a:ext uri="{FF2B5EF4-FFF2-40B4-BE49-F238E27FC236}">
                <a16:creationId xmlns:a16="http://schemas.microsoft.com/office/drawing/2014/main" id="{C83080F5-7827-F5D2-BFB1-BA004FD789CF}"/>
              </a:ext>
            </a:extLst>
          </p:cNvPr>
          <p:cNvSpPr txBox="1">
            <a:spLocks/>
          </p:cNvSpPr>
          <p:nvPr/>
        </p:nvSpPr>
        <p:spPr>
          <a:xfrm>
            <a:off x="1258812" y="6017793"/>
            <a:ext cx="2780359" cy="400436"/>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a:t>After grouping degrees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Dataset 1 – Choice of Visualisation</a:t>
            </a:r>
          </a:p>
        </p:txBody>
      </p:sp>
      <p:sp>
        <p:nvSpPr>
          <p:cNvPr id="3" name="Content Placeholder 2"/>
          <p:cNvSpPr>
            <a:spLocks noGrp="1"/>
          </p:cNvSpPr>
          <p:nvPr>
            <p:ph idx="1"/>
          </p:nvPr>
        </p:nvSpPr>
        <p:spPr>
          <a:xfrm>
            <a:off x="1097280" y="2572378"/>
            <a:ext cx="10058400" cy="3296716"/>
          </a:xfrm>
        </p:spPr>
        <p:txBody>
          <a:bodyPr/>
          <a:lstStyle/>
          <a:p>
            <a:r>
              <a:t>Used boxplot to show salary distribution and variation across degrees</a:t>
            </a:r>
          </a:p>
          <a:p>
            <a:r>
              <a:t>Used bar chart to compare average extra benefits between degree groups</a:t>
            </a:r>
            <a:endParaRPr lang="en-SG"/>
          </a:p>
          <a:p>
            <a:r>
              <a:rPr lang="en-SG"/>
              <a:t>Used </a:t>
            </a:r>
            <a:r>
              <a:rPr lang="en-SG" err="1"/>
              <a:t>pairplot</a:t>
            </a:r>
            <a:r>
              <a:rPr lang="en-SG"/>
              <a:t> with regression to study for relationships between the variables.</a:t>
            </a:r>
            <a:endParaRPr/>
          </a:p>
          <a:p>
            <a:r>
              <a:t>These graphs allow easy comparison of compensation differences</a:t>
            </a:r>
            <a:endParaRPr lang="en-SG"/>
          </a:p>
          <a:p>
            <a:r>
              <a:rPr lang="en-US"/>
              <a:t>Outcome: </a:t>
            </a:r>
            <a:r>
              <a:rPr lang="en-US" err="1"/>
              <a:t>Visualisations</a:t>
            </a:r>
            <a:r>
              <a:rPr lang="en-US"/>
              <a:t> clearly highlight variation and group differences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548760" cy="1450757"/>
          </a:xfrm>
        </p:spPr>
        <p:txBody>
          <a:bodyPr/>
          <a:lstStyle/>
          <a:p>
            <a:r>
              <a:t>Dataset 2 –Inspecting </a:t>
            </a:r>
            <a:r>
              <a:rPr lang="en-SG"/>
              <a:t>and Processing Data</a:t>
            </a:r>
            <a:endParaRPr/>
          </a:p>
        </p:txBody>
      </p:sp>
      <p:sp>
        <p:nvSpPr>
          <p:cNvPr id="3" name="Content Placeholder 2"/>
          <p:cNvSpPr>
            <a:spLocks noGrp="1"/>
          </p:cNvSpPr>
          <p:nvPr>
            <p:ph idx="1"/>
          </p:nvPr>
        </p:nvSpPr>
        <p:spPr/>
        <p:txBody>
          <a:bodyPr/>
          <a:lstStyle/>
          <a:p>
            <a:r>
              <a:rPr sz="1800"/>
              <a:t>Loaded employment dataset into Pandas</a:t>
            </a:r>
            <a:r>
              <a:rPr lang="en-SG" sz="1800"/>
              <a:t> using </a:t>
            </a:r>
            <a:r>
              <a:rPr lang="en-SG" sz="1800" err="1"/>
              <a:t>pd.read_excel</a:t>
            </a:r>
            <a:r>
              <a:rPr lang="en-SG" sz="1800"/>
              <a:t>, selected sheet 8, skip 6 rows.</a:t>
            </a:r>
            <a:endParaRPr sz="1800"/>
          </a:p>
          <a:p>
            <a:r>
              <a:rPr sz="1800"/>
              <a:t>Reviewed structure and converted</a:t>
            </a:r>
            <a:r>
              <a:rPr lang="en-SG" sz="1800"/>
              <a:t> work hours</a:t>
            </a:r>
            <a:r>
              <a:rPr sz="1800"/>
              <a:t> to numeric format</a:t>
            </a:r>
            <a:r>
              <a:rPr lang="en-SG" sz="1800"/>
              <a:t> using for loop</a:t>
            </a:r>
          </a:p>
          <a:p>
            <a:r>
              <a:rPr lang="en-SG" sz="1800"/>
              <a:t>Reformatted muti-layer labels</a:t>
            </a:r>
            <a:endParaRPr sz="1800"/>
          </a:p>
          <a:p>
            <a:r>
              <a:rPr lang="en-SG" sz="1800"/>
              <a:t>Dropped duplicated labels and footers</a:t>
            </a:r>
          </a:p>
          <a:p>
            <a:r>
              <a:rPr lang="en-SG" sz="1800"/>
              <a:t>Checked for outliers in dataset using lambda function</a:t>
            </a:r>
          </a:p>
          <a:p>
            <a:r>
              <a:rPr lang="en-US" sz="1800"/>
              <a:t>Scaled year range to be 2013:2022 for all datasets.</a:t>
            </a:r>
          </a:p>
          <a:p>
            <a:endParaRPr lang="en-SG"/>
          </a:p>
          <a:p>
            <a:endParaRPr lang="en-SG"/>
          </a:p>
          <a:p>
            <a:endParaRPr/>
          </a:p>
        </p:txBody>
      </p:sp>
      <p:pic>
        <p:nvPicPr>
          <p:cNvPr id="5" name="Picture 4">
            <a:extLst>
              <a:ext uri="{FF2B5EF4-FFF2-40B4-BE49-F238E27FC236}">
                <a16:creationId xmlns:a16="http://schemas.microsoft.com/office/drawing/2014/main" id="{01B167AA-EC89-8F0F-8B84-572E2B92C889}"/>
              </a:ext>
            </a:extLst>
          </p:cNvPr>
          <p:cNvPicPr>
            <a:picLocks noChangeAspect="1"/>
          </p:cNvPicPr>
          <p:nvPr/>
        </p:nvPicPr>
        <p:blipFill>
          <a:blip r:embed="rId2"/>
          <a:stretch>
            <a:fillRect/>
          </a:stretch>
        </p:blipFill>
        <p:spPr>
          <a:xfrm>
            <a:off x="1446963" y="4928010"/>
            <a:ext cx="3456369" cy="1929989"/>
          </a:xfrm>
          <a:prstGeom prst="rect">
            <a:avLst/>
          </a:prstGeom>
        </p:spPr>
      </p:pic>
      <p:pic>
        <p:nvPicPr>
          <p:cNvPr id="7" name="Picture 6">
            <a:extLst>
              <a:ext uri="{FF2B5EF4-FFF2-40B4-BE49-F238E27FC236}">
                <a16:creationId xmlns:a16="http://schemas.microsoft.com/office/drawing/2014/main" id="{EF177215-446E-5BB0-C223-0DE144541FDA}"/>
              </a:ext>
            </a:extLst>
          </p:cNvPr>
          <p:cNvPicPr>
            <a:picLocks noChangeAspect="1"/>
          </p:cNvPicPr>
          <p:nvPr/>
        </p:nvPicPr>
        <p:blipFill>
          <a:blip r:embed="rId3"/>
          <a:stretch>
            <a:fillRect/>
          </a:stretch>
        </p:blipFill>
        <p:spPr>
          <a:xfrm>
            <a:off x="5253015" y="4918634"/>
            <a:ext cx="4033419" cy="1910079"/>
          </a:xfrm>
          <a:prstGeom prst="rect">
            <a:avLst/>
          </a:prstGeom>
        </p:spPr>
      </p:pic>
      <p:pic>
        <p:nvPicPr>
          <p:cNvPr id="9" name="Picture 8">
            <a:extLst>
              <a:ext uri="{FF2B5EF4-FFF2-40B4-BE49-F238E27FC236}">
                <a16:creationId xmlns:a16="http://schemas.microsoft.com/office/drawing/2014/main" id="{07230B3F-1A90-264E-4417-891C7A401811}"/>
              </a:ext>
            </a:extLst>
          </p:cNvPr>
          <p:cNvPicPr>
            <a:picLocks noChangeAspect="1"/>
          </p:cNvPicPr>
          <p:nvPr/>
        </p:nvPicPr>
        <p:blipFill>
          <a:blip r:embed="rId4"/>
          <a:stretch>
            <a:fillRect/>
          </a:stretch>
        </p:blipFill>
        <p:spPr>
          <a:xfrm>
            <a:off x="1446963" y="4341574"/>
            <a:ext cx="7859222" cy="66684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Dataset 2 – Choice of Visualisation</a:t>
            </a:r>
          </a:p>
        </p:txBody>
      </p:sp>
      <p:sp>
        <p:nvSpPr>
          <p:cNvPr id="3" name="Content Placeholder 2"/>
          <p:cNvSpPr>
            <a:spLocks noGrp="1"/>
          </p:cNvSpPr>
          <p:nvPr>
            <p:ph idx="1"/>
          </p:nvPr>
        </p:nvSpPr>
        <p:spPr>
          <a:xfrm>
            <a:off x="1097280" y="2448232"/>
            <a:ext cx="10058400" cy="3420862"/>
          </a:xfrm>
        </p:spPr>
        <p:txBody>
          <a:bodyPr/>
          <a:lstStyle/>
          <a:p>
            <a:r>
              <a:t>Used line charts to show</a:t>
            </a:r>
            <a:r>
              <a:rPr lang="en-SG"/>
              <a:t> working hours </a:t>
            </a:r>
            <a:r>
              <a:t>over time</a:t>
            </a:r>
          </a:p>
          <a:p>
            <a:r>
              <a:t>Used </a:t>
            </a:r>
            <a:r>
              <a:rPr lang="en-SG" err="1"/>
              <a:t>kde</a:t>
            </a:r>
            <a:r>
              <a:rPr lang="en-SG"/>
              <a:t> plot </a:t>
            </a:r>
            <a:r>
              <a:t>to compare working hours by gender</a:t>
            </a:r>
          </a:p>
          <a:p>
            <a:r>
              <a:t>These graphs effectively show trends and differences between groups</a:t>
            </a:r>
          </a:p>
          <a:p>
            <a:r>
              <a:t>Outcome: </a:t>
            </a:r>
            <a:r>
              <a:rPr err="1"/>
              <a:t>Visualisations</a:t>
            </a:r>
            <a:r>
              <a:t> make time-based and gender-based comparisons clear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Dataset 3</a:t>
            </a:r>
          </a:p>
        </p:txBody>
      </p:sp>
      <p:sp>
        <p:nvSpPr>
          <p:cNvPr id="3" name="Content Placeholder 2"/>
          <p:cNvSpPr>
            <a:spLocks noGrp="1"/>
          </p:cNvSpPr>
          <p:nvPr>
            <p:ph idx="1"/>
          </p:nvPr>
        </p:nvSpPr>
        <p:spPr/>
        <p:txBody>
          <a:bodyPr/>
          <a:lstStyle/>
          <a:p>
            <a:r>
              <a:t>Imported dataset into Pandas </a:t>
            </a:r>
            <a:r>
              <a:rPr err="1"/>
              <a:t>DataFrame</a:t>
            </a:r>
            <a:r>
              <a:rPr lang="en-SG"/>
              <a:t>.</a:t>
            </a:r>
            <a:endParaRPr/>
          </a:p>
          <a:p>
            <a:r>
              <a:t>Reviewed structure and identified </a:t>
            </a:r>
            <a:r>
              <a:rPr lang="en-SG"/>
              <a:t>columns using .head().</a:t>
            </a:r>
          </a:p>
          <a:p>
            <a:r>
              <a:rPr lang="en-SG"/>
              <a:t>No missing row or duplicated rows and columns in the dataset.</a:t>
            </a:r>
          </a:p>
          <a:p>
            <a:r>
              <a:rPr lang="en-US"/>
              <a:t>Scaled year range to be 2013:2022. </a:t>
            </a:r>
          </a:p>
          <a:p>
            <a:endParaRPr lang="en-US"/>
          </a:p>
          <a:p>
            <a:endParaRPr lang="en-US"/>
          </a:p>
          <a:p>
            <a:r>
              <a:rPr lang="en-US"/>
              <a:t>Choice of visualization: Heatmap that show Employment Rate by year and gender</a:t>
            </a:r>
            <a:endParaRPr lang="en-SG"/>
          </a:p>
          <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A292F60-FA34-FC7D-604D-D7CC14D56B15}"/>
              </a:ext>
            </a:extLst>
          </p:cNvPr>
          <p:cNvPicPr>
            <a:picLocks noChangeAspect="1"/>
          </p:cNvPicPr>
          <p:nvPr/>
        </p:nvPicPr>
        <p:blipFill>
          <a:blip r:embed="rId3"/>
          <a:stretch>
            <a:fillRect/>
          </a:stretch>
        </p:blipFill>
        <p:spPr>
          <a:xfrm>
            <a:off x="78374" y="986621"/>
            <a:ext cx="3972232" cy="2442379"/>
          </a:xfrm>
          <a:prstGeom prst="rect">
            <a:avLst/>
          </a:prstGeom>
        </p:spPr>
      </p:pic>
      <p:pic>
        <p:nvPicPr>
          <p:cNvPr id="10" name="Picture 9">
            <a:extLst>
              <a:ext uri="{FF2B5EF4-FFF2-40B4-BE49-F238E27FC236}">
                <a16:creationId xmlns:a16="http://schemas.microsoft.com/office/drawing/2014/main" id="{2F7E89BB-33A0-BF22-CE9D-0CB0C782853D}"/>
              </a:ext>
            </a:extLst>
          </p:cNvPr>
          <p:cNvPicPr>
            <a:picLocks noChangeAspect="1"/>
          </p:cNvPicPr>
          <p:nvPr/>
        </p:nvPicPr>
        <p:blipFill>
          <a:blip r:embed="rId4"/>
          <a:stretch>
            <a:fillRect/>
          </a:stretch>
        </p:blipFill>
        <p:spPr>
          <a:xfrm>
            <a:off x="0" y="3597032"/>
            <a:ext cx="4050606" cy="2567577"/>
          </a:xfrm>
          <a:prstGeom prst="rect">
            <a:avLst/>
          </a:prstGeom>
        </p:spPr>
      </p:pic>
      <p:sp>
        <p:nvSpPr>
          <p:cNvPr id="2" name="Content Placeholder 2">
            <a:extLst>
              <a:ext uri="{FF2B5EF4-FFF2-40B4-BE49-F238E27FC236}">
                <a16:creationId xmlns:a16="http://schemas.microsoft.com/office/drawing/2014/main" id="{F6583C30-CBD1-40BC-0E4C-9B395829FBDB}"/>
              </a:ext>
            </a:extLst>
          </p:cNvPr>
          <p:cNvSpPr txBox="1">
            <a:spLocks/>
          </p:cNvSpPr>
          <p:nvPr/>
        </p:nvSpPr>
        <p:spPr>
          <a:xfrm>
            <a:off x="4050606" y="1199535"/>
            <a:ext cx="7997368" cy="5112776"/>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lvl="0" indent="0" eaLnBrk="0" fontAlgn="base" hangingPunct="0">
              <a:lnSpc>
                <a:spcPct val="100000"/>
              </a:lnSpc>
              <a:spcBef>
                <a:spcPct val="0"/>
              </a:spcBef>
              <a:spcAft>
                <a:spcPct val="0"/>
              </a:spcAft>
              <a:buClrTx/>
              <a:buSzTx/>
              <a:buFontTx/>
              <a:buChar char="•"/>
            </a:pPr>
            <a:r>
              <a:rPr lang="en-US" altLang="en-US">
                <a:solidFill>
                  <a:schemeClr val="tx1"/>
                </a:solidFill>
                <a:latin typeface="Arial" panose="020B0604020202020204" pitchFamily="34" charset="0"/>
              </a:rPr>
              <a:t>Professional degrees such as Law, Dentistry and Double Degree graduates earn the highest salaries.</a:t>
            </a:r>
          </a:p>
          <a:p>
            <a:pPr marL="0" lvl="0" indent="0" eaLnBrk="0" fontAlgn="base" hangingPunct="0">
              <a:lnSpc>
                <a:spcPct val="100000"/>
              </a:lnSpc>
              <a:spcBef>
                <a:spcPct val="0"/>
              </a:spcBef>
              <a:spcAft>
                <a:spcPct val="0"/>
              </a:spcAft>
              <a:buClrTx/>
              <a:buSzTx/>
              <a:buFontTx/>
              <a:buChar char="•"/>
            </a:pPr>
            <a:endParaRPr lang="en-US" altLang="en-US">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FontTx/>
              <a:buChar char="•"/>
            </a:pPr>
            <a:r>
              <a:rPr lang="en-US" altLang="en-US">
                <a:solidFill>
                  <a:schemeClr val="tx1"/>
                </a:solidFill>
                <a:latin typeface="Arial" panose="020B0604020202020204" pitchFamily="34" charset="0"/>
              </a:rPr>
              <a:t>Hospitality &amp; Tourism graduates earn the lowest salaries.</a:t>
            </a:r>
          </a:p>
          <a:p>
            <a:pPr marL="0" lvl="0" indent="0" eaLnBrk="0" fontAlgn="base" hangingPunct="0">
              <a:lnSpc>
                <a:spcPct val="100000"/>
              </a:lnSpc>
              <a:spcBef>
                <a:spcPct val="0"/>
              </a:spcBef>
              <a:spcAft>
                <a:spcPct val="0"/>
              </a:spcAft>
              <a:buClrTx/>
              <a:buSzTx/>
              <a:buFontTx/>
              <a:buChar char="•"/>
            </a:pPr>
            <a:endParaRPr lang="en-US" altLang="en-US">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endParaRPr lang="en-US" altLang="en-US">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endParaRPr lang="en-US" altLang="en-US">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endParaRPr lang="en-US" altLang="en-US">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FontTx/>
              <a:buChar char="•"/>
            </a:pPr>
            <a:r>
              <a:rPr lang="en-US" altLang="en-US">
                <a:solidFill>
                  <a:schemeClr val="tx1"/>
                </a:solidFill>
                <a:latin typeface="Arial" panose="020B0604020202020204" pitchFamily="34" charset="0"/>
              </a:rPr>
              <a:t>Medicine, Law and Health Sciences provide the highest extra benefits.</a:t>
            </a:r>
          </a:p>
          <a:p>
            <a:pPr marL="0" lvl="0" indent="0" eaLnBrk="0" fontAlgn="base" hangingPunct="0">
              <a:lnSpc>
                <a:spcPct val="100000"/>
              </a:lnSpc>
              <a:spcBef>
                <a:spcPct val="0"/>
              </a:spcBef>
              <a:spcAft>
                <a:spcPct val="0"/>
              </a:spcAft>
              <a:buClrTx/>
              <a:buSzTx/>
              <a:buFontTx/>
              <a:buChar char="•"/>
            </a:pPr>
            <a:endParaRPr lang="en-US" altLang="en-US">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FontTx/>
              <a:buChar char="•"/>
            </a:pPr>
            <a:r>
              <a:rPr lang="en-US" altLang="en-US">
                <a:solidFill>
                  <a:schemeClr val="tx1"/>
                </a:solidFill>
                <a:latin typeface="Arial" panose="020B0604020202020204" pitchFamily="34" charset="0"/>
              </a:rPr>
              <a:t>Degree choice strongly influences total compensation (salary + benefits).</a:t>
            </a:r>
          </a:p>
          <a:p>
            <a:pPr marL="0" lvl="0" indent="0" eaLnBrk="0" fontAlgn="base" hangingPunct="0">
              <a:lnSpc>
                <a:spcPct val="100000"/>
              </a:lnSpc>
              <a:spcBef>
                <a:spcPct val="0"/>
              </a:spcBef>
              <a:spcAft>
                <a:spcPct val="0"/>
              </a:spcAft>
              <a:buClrTx/>
              <a:buSzTx/>
              <a:buFontTx/>
              <a:buChar char="•"/>
            </a:pPr>
            <a:endParaRPr lang="en-US" altLang="en-US">
              <a:solidFill>
                <a:schemeClr val="tx1"/>
              </a:solidFill>
              <a:latin typeface="Arial" panose="020B0604020202020204" pitchFamily="34" charset="0"/>
            </a:endParaRPr>
          </a:p>
          <a:p>
            <a:pPr marL="0" indent="0" eaLnBrk="0" fontAlgn="base" hangingPunct="0">
              <a:lnSpc>
                <a:spcPct val="100000"/>
              </a:lnSpc>
              <a:spcBef>
                <a:spcPct val="0"/>
              </a:spcBef>
              <a:spcAft>
                <a:spcPct val="0"/>
              </a:spcAft>
              <a:buClrTx/>
              <a:buSzTx/>
              <a:buFontTx/>
              <a:buChar char="•"/>
            </a:pPr>
            <a:r>
              <a:rPr lang="en-US" b="1"/>
              <a:t>Key Takeaway: </a:t>
            </a:r>
            <a:r>
              <a:rPr lang="en-US"/>
              <a:t>Field of study is a major factor shaping a graduate’s earning  potential and compensation package.</a:t>
            </a:r>
          </a:p>
          <a:p>
            <a:pPr marL="0" lvl="0" indent="0" eaLnBrk="0" fontAlgn="base" hangingPunct="0">
              <a:lnSpc>
                <a:spcPct val="100000"/>
              </a:lnSpc>
              <a:spcBef>
                <a:spcPct val="0"/>
              </a:spcBef>
              <a:spcAft>
                <a:spcPct val="0"/>
              </a:spcAft>
              <a:buClrTx/>
              <a:buSzTx/>
              <a:buFontTx/>
              <a:buChar char="•"/>
            </a:pPr>
            <a:endParaRPr lang="en-US" altLang="en-US">
              <a:solidFill>
                <a:schemeClr val="tx1"/>
              </a:solidFill>
              <a:latin typeface="Arial" panose="020B0604020202020204" pitchFamily="34" charset="0"/>
            </a:endParaRPr>
          </a:p>
        </p:txBody>
      </p:sp>
      <p:sp>
        <p:nvSpPr>
          <p:cNvPr id="3" name="Content Placeholder 2">
            <a:extLst>
              <a:ext uri="{FF2B5EF4-FFF2-40B4-BE49-F238E27FC236}">
                <a16:creationId xmlns:a16="http://schemas.microsoft.com/office/drawing/2014/main" id="{28ECB6AE-046B-DAF6-694D-5DB9498D0E87}"/>
              </a:ext>
            </a:extLst>
          </p:cNvPr>
          <p:cNvSpPr txBox="1">
            <a:spLocks/>
          </p:cNvSpPr>
          <p:nvPr/>
        </p:nvSpPr>
        <p:spPr>
          <a:xfrm>
            <a:off x="102953" y="95810"/>
            <a:ext cx="11833408" cy="722779"/>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400" b="1"/>
              <a:t>Sub Q1: How do different degrees influence salary outcomes and extra benefits?</a:t>
            </a:r>
            <a:endParaRPr lang="en-SG" sz="2400" b="1"/>
          </a:p>
        </p:txBody>
      </p:sp>
    </p:spTree>
    <p:extLst>
      <p:ext uri="{BB962C8B-B14F-4D97-AF65-F5344CB8AC3E}">
        <p14:creationId xmlns:p14="http://schemas.microsoft.com/office/powerpoint/2010/main" val="121809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812AB-58AB-8F59-8AC3-3FB216B62C8C}"/>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1F934FCF-2388-864F-D8FF-9A6717E33836}"/>
              </a:ext>
            </a:extLst>
          </p:cNvPr>
          <p:cNvSpPr txBox="1">
            <a:spLocks/>
          </p:cNvSpPr>
          <p:nvPr/>
        </p:nvSpPr>
        <p:spPr>
          <a:xfrm>
            <a:off x="4050606" y="1199535"/>
            <a:ext cx="7997368" cy="5112776"/>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lvl="0" indent="0" eaLnBrk="0" fontAlgn="base" hangingPunct="0">
              <a:lnSpc>
                <a:spcPct val="100000"/>
              </a:lnSpc>
              <a:spcBef>
                <a:spcPct val="0"/>
              </a:spcBef>
              <a:spcAft>
                <a:spcPct val="0"/>
              </a:spcAft>
              <a:buClrTx/>
              <a:buSzTx/>
              <a:buFontTx/>
              <a:buChar char="•"/>
            </a:pPr>
            <a:r>
              <a:rPr lang="en-US" altLang="en-US">
                <a:solidFill>
                  <a:schemeClr val="tx1"/>
                </a:solidFill>
                <a:latin typeface="Arial" panose="020B0604020202020204" pitchFamily="34" charset="0"/>
              </a:rPr>
              <a:t>Male employment rates remain consistently high (around 88–90%)</a:t>
            </a:r>
          </a:p>
          <a:p>
            <a:pPr marL="0" lvl="0" indent="0" eaLnBrk="0" fontAlgn="base" hangingPunct="0">
              <a:lnSpc>
                <a:spcPct val="100000"/>
              </a:lnSpc>
              <a:spcBef>
                <a:spcPct val="0"/>
              </a:spcBef>
              <a:spcAft>
                <a:spcPct val="0"/>
              </a:spcAft>
              <a:buClrTx/>
              <a:buSzTx/>
              <a:buFontTx/>
              <a:buChar char="•"/>
            </a:pPr>
            <a:endParaRPr lang="en-US" altLang="en-US">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FontTx/>
              <a:buChar char="•"/>
            </a:pPr>
            <a:r>
              <a:rPr lang="en-US" altLang="en-US">
                <a:solidFill>
                  <a:schemeClr val="tx1"/>
                </a:solidFill>
                <a:latin typeface="Arial" panose="020B0604020202020204" pitchFamily="34" charset="0"/>
              </a:rPr>
              <a:t>Female employment rates have increased steadily, narrowing the gender gap</a:t>
            </a:r>
          </a:p>
          <a:p>
            <a:pPr marL="0" lvl="0" indent="0" eaLnBrk="0" fontAlgn="base" hangingPunct="0">
              <a:lnSpc>
                <a:spcPct val="100000"/>
              </a:lnSpc>
              <a:spcBef>
                <a:spcPct val="0"/>
              </a:spcBef>
              <a:spcAft>
                <a:spcPct val="0"/>
              </a:spcAft>
              <a:buClrTx/>
              <a:buSzTx/>
              <a:buFontTx/>
              <a:buChar char="•"/>
            </a:pPr>
            <a:endParaRPr lang="en-US" altLang="en-US">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FontTx/>
              <a:buChar char="•"/>
            </a:pPr>
            <a:r>
              <a:rPr lang="en-US" altLang="en-US">
                <a:solidFill>
                  <a:schemeClr val="tx1"/>
                </a:solidFill>
                <a:latin typeface="Arial" panose="020B0604020202020204" pitchFamily="34" charset="0"/>
              </a:rPr>
              <a:t>Men work longer hours on average (45 hours vs 41 hours for women)</a:t>
            </a:r>
          </a:p>
          <a:p>
            <a:pPr marL="0" lvl="0" indent="0" eaLnBrk="0" fontAlgn="base" hangingPunct="0">
              <a:lnSpc>
                <a:spcPct val="100000"/>
              </a:lnSpc>
              <a:spcBef>
                <a:spcPct val="0"/>
              </a:spcBef>
              <a:spcAft>
                <a:spcPct val="0"/>
              </a:spcAft>
              <a:buClrTx/>
              <a:buSzTx/>
              <a:buFontTx/>
              <a:buChar char="•"/>
            </a:pPr>
            <a:endParaRPr lang="en-US" altLang="en-US">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FontTx/>
              <a:buChar char="•"/>
            </a:pPr>
            <a:r>
              <a:rPr lang="en-US" altLang="en-US">
                <a:solidFill>
                  <a:schemeClr val="tx1"/>
                </a:solidFill>
                <a:latin typeface="Arial" panose="020B0604020202020204" pitchFamily="34" charset="0"/>
              </a:rPr>
              <a:t>Weekly working hours for both genders are gradually decreasing</a:t>
            </a:r>
          </a:p>
          <a:p>
            <a:pPr marL="0" lvl="0" indent="0" eaLnBrk="0" fontAlgn="base" hangingPunct="0">
              <a:lnSpc>
                <a:spcPct val="100000"/>
              </a:lnSpc>
              <a:spcBef>
                <a:spcPct val="0"/>
              </a:spcBef>
              <a:spcAft>
                <a:spcPct val="0"/>
              </a:spcAft>
              <a:buClrTx/>
              <a:buSzTx/>
              <a:buFontTx/>
              <a:buChar char="•"/>
            </a:pPr>
            <a:endParaRPr lang="en-US" altLang="en-US">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endParaRPr lang="en-US" altLang="en-US">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FontTx/>
              <a:buChar char="•"/>
            </a:pPr>
            <a:endParaRPr lang="en-US" altLang="en-US">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FontTx/>
              <a:buChar char="•"/>
            </a:pPr>
            <a:r>
              <a:rPr lang="en-US"/>
              <a:t> </a:t>
            </a:r>
            <a:r>
              <a:rPr lang="en-US" b="1"/>
              <a:t>Key Takeaway</a:t>
            </a:r>
            <a:r>
              <a:rPr lang="en-US"/>
              <a:t>: Gender differences in employment and workload are reducing over time, suggesting improving parity and work-life balance.</a:t>
            </a:r>
            <a:endParaRPr lang="en-US" altLang="en-US">
              <a:solidFill>
                <a:schemeClr val="tx1"/>
              </a:solidFill>
              <a:latin typeface="Arial" panose="020B0604020202020204" pitchFamily="34" charset="0"/>
            </a:endParaRPr>
          </a:p>
        </p:txBody>
      </p:sp>
      <p:sp>
        <p:nvSpPr>
          <p:cNvPr id="3" name="Content Placeholder 2">
            <a:extLst>
              <a:ext uri="{FF2B5EF4-FFF2-40B4-BE49-F238E27FC236}">
                <a16:creationId xmlns:a16="http://schemas.microsoft.com/office/drawing/2014/main" id="{1D959F0B-1A5C-3F66-2FC0-5455ED8FDEA4}"/>
              </a:ext>
            </a:extLst>
          </p:cNvPr>
          <p:cNvSpPr txBox="1">
            <a:spLocks/>
          </p:cNvSpPr>
          <p:nvPr/>
        </p:nvSpPr>
        <p:spPr>
          <a:xfrm>
            <a:off x="102953" y="95810"/>
            <a:ext cx="11833408" cy="890811"/>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SG" sz="2400" b="1"/>
              <a:t>Sub-Question 2: </a:t>
            </a:r>
            <a:r>
              <a:rPr lang="en-US" b="1"/>
              <a:t>How does gender affect employment rates?</a:t>
            </a:r>
            <a:endParaRPr lang="en-SG" sz="2400" b="1"/>
          </a:p>
          <a:p>
            <a:r>
              <a:rPr lang="en-SG" sz="2400" b="1"/>
              <a:t>Sub-Question 3: </a:t>
            </a:r>
            <a:r>
              <a:rPr lang="en-US" b="1"/>
              <a:t>How does gender shape work‑life balance through differences in working hours?</a:t>
            </a:r>
            <a:endParaRPr lang="en-SG" sz="2400" b="1"/>
          </a:p>
          <a:p>
            <a:endParaRPr lang="en-SG" sz="2400" b="1"/>
          </a:p>
        </p:txBody>
      </p:sp>
      <p:pic>
        <p:nvPicPr>
          <p:cNvPr id="13" name="Picture 12">
            <a:extLst>
              <a:ext uri="{FF2B5EF4-FFF2-40B4-BE49-F238E27FC236}">
                <a16:creationId xmlns:a16="http://schemas.microsoft.com/office/drawing/2014/main" id="{F7FAD3F0-AA3F-A09D-E851-E19F5C51350C}"/>
              </a:ext>
            </a:extLst>
          </p:cNvPr>
          <p:cNvPicPr>
            <a:picLocks noChangeAspect="1"/>
          </p:cNvPicPr>
          <p:nvPr/>
        </p:nvPicPr>
        <p:blipFill>
          <a:blip r:embed="rId3"/>
          <a:stretch>
            <a:fillRect/>
          </a:stretch>
        </p:blipFill>
        <p:spPr>
          <a:xfrm>
            <a:off x="102953" y="986621"/>
            <a:ext cx="3042181" cy="2078126"/>
          </a:xfrm>
          <a:prstGeom prst="rect">
            <a:avLst/>
          </a:prstGeom>
        </p:spPr>
      </p:pic>
      <p:pic>
        <p:nvPicPr>
          <p:cNvPr id="4" name="Picture 3">
            <a:extLst>
              <a:ext uri="{FF2B5EF4-FFF2-40B4-BE49-F238E27FC236}">
                <a16:creationId xmlns:a16="http://schemas.microsoft.com/office/drawing/2014/main" id="{0F3DD2C2-1FB7-96BF-209A-23B2345EABD6}"/>
              </a:ext>
            </a:extLst>
          </p:cNvPr>
          <p:cNvPicPr>
            <a:picLocks noChangeAspect="1"/>
          </p:cNvPicPr>
          <p:nvPr/>
        </p:nvPicPr>
        <p:blipFill>
          <a:blip r:embed="rId4"/>
          <a:stretch>
            <a:fillRect/>
          </a:stretch>
        </p:blipFill>
        <p:spPr>
          <a:xfrm>
            <a:off x="-9310" y="3170038"/>
            <a:ext cx="3428549" cy="1825684"/>
          </a:xfrm>
          <a:prstGeom prst="rect">
            <a:avLst/>
          </a:prstGeom>
        </p:spPr>
      </p:pic>
      <p:pic>
        <p:nvPicPr>
          <p:cNvPr id="11" name="Picture 10">
            <a:extLst>
              <a:ext uri="{FF2B5EF4-FFF2-40B4-BE49-F238E27FC236}">
                <a16:creationId xmlns:a16="http://schemas.microsoft.com/office/drawing/2014/main" id="{AC6C848A-39AB-0394-C01F-3BBF0BA6CBD2}"/>
              </a:ext>
            </a:extLst>
          </p:cNvPr>
          <p:cNvPicPr>
            <a:picLocks noChangeAspect="1"/>
          </p:cNvPicPr>
          <p:nvPr/>
        </p:nvPicPr>
        <p:blipFill>
          <a:blip r:embed="rId5"/>
          <a:stretch>
            <a:fillRect/>
          </a:stretch>
        </p:blipFill>
        <p:spPr>
          <a:xfrm>
            <a:off x="-9310" y="5101013"/>
            <a:ext cx="3428550" cy="1739066"/>
          </a:xfrm>
          <a:prstGeom prst="rect">
            <a:avLst/>
          </a:prstGeom>
        </p:spPr>
      </p:pic>
    </p:spTree>
    <p:extLst>
      <p:ext uri="{BB962C8B-B14F-4D97-AF65-F5344CB8AC3E}">
        <p14:creationId xmlns:p14="http://schemas.microsoft.com/office/powerpoint/2010/main" val="3171183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92EB3-CFD4-41FD-ABD6-406236175384}"/>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1DB6A078-8EDF-7CAA-8606-01B5DAA5A6A7}"/>
              </a:ext>
            </a:extLst>
          </p:cNvPr>
          <p:cNvSpPr txBox="1">
            <a:spLocks/>
          </p:cNvSpPr>
          <p:nvPr/>
        </p:nvSpPr>
        <p:spPr>
          <a:xfrm>
            <a:off x="4699818" y="599768"/>
            <a:ext cx="7348155" cy="5712543"/>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endParaRPr lang="en-US"/>
          </a:p>
          <a:p>
            <a:pPr>
              <a:buFont typeface="Arial" panose="020B0604020202020204" pitchFamily="34" charset="0"/>
              <a:buChar char="•"/>
            </a:pPr>
            <a:r>
              <a:rPr lang="en-US"/>
              <a:t>Higher salaries tend to come with more extra benefits</a:t>
            </a:r>
          </a:p>
          <a:p>
            <a:pPr>
              <a:buFont typeface="Arial" panose="020B0604020202020204" pitchFamily="34" charset="0"/>
              <a:buChar char="•"/>
            </a:pPr>
            <a:r>
              <a:rPr lang="en-US"/>
              <a:t>Degree choice mainly affects salary and benefits</a:t>
            </a:r>
          </a:p>
          <a:p>
            <a:pPr>
              <a:buFont typeface="Arial" panose="020B0604020202020204" pitchFamily="34" charset="0"/>
              <a:buChar char="•"/>
            </a:pPr>
            <a:r>
              <a:rPr lang="en-US"/>
              <a:t>Gender trends mainly influence employment rates and working hours</a:t>
            </a:r>
            <a:endParaRPr lang="en-US" b="1"/>
          </a:p>
          <a:p>
            <a:r>
              <a:rPr lang="en-US" b="1"/>
              <a:t>Final Answer:</a:t>
            </a:r>
            <a:br>
              <a:rPr lang="en-US"/>
            </a:br>
            <a:r>
              <a:rPr lang="en-US"/>
              <a:t>Graduates in Singapore can expect strong employment prospects, moderate working hours, and salary outcomes that depend largely on their field of study, while gender differences in employment and workload continue to </a:t>
            </a:r>
            <a:r>
              <a:rPr lang="en-US" err="1"/>
              <a:t>narrow.Big</a:t>
            </a:r>
            <a:r>
              <a:rPr lang="en-US"/>
              <a:t> clear numbers:</a:t>
            </a:r>
          </a:p>
          <a:p>
            <a:r>
              <a:rPr lang="en-US"/>
              <a:t>Salary: ~SGD3500/month</a:t>
            </a:r>
          </a:p>
          <a:p>
            <a:r>
              <a:rPr lang="en-US"/>
              <a:t>Benefits: ~SGD100/month</a:t>
            </a:r>
          </a:p>
          <a:p>
            <a:r>
              <a:rPr lang="en-US"/>
              <a:t>Employment rate: &gt;85%</a:t>
            </a:r>
          </a:p>
          <a:p>
            <a:r>
              <a:rPr lang="en-US"/>
              <a:t>Work hours: ~43 hours/week</a:t>
            </a:r>
          </a:p>
          <a:p>
            <a:endParaRPr lang="en-US"/>
          </a:p>
          <a:p>
            <a:endParaRPr lang="en-US"/>
          </a:p>
          <a:p>
            <a:pPr marL="0" indent="0">
              <a:buNone/>
            </a:pPr>
            <a:endParaRPr lang="en-US"/>
          </a:p>
          <a:p>
            <a:pPr marL="0" indent="0">
              <a:buNone/>
            </a:pPr>
            <a:endParaRPr lang="en-US"/>
          </a:p>
          <a:p>
            <a:pPr>
              <a:buFont typeface="Arial" panose="020B0604020202020204" pitchFamily="34" charset="0"/>
              <a:buChar char="•"/>
            </a:pPr>
            <a:endParaRPr lang="en-US"/>
          </a:p>
          <a:p>
            <a:pPr marL="0" lvl="0" indent="0" eaLnBrk="0" fontAlgn="base" hangingPunct="0">
              <a:lnSpc>
                <a:spcPct val="100000"/>
              </a:lnSpc>
              <a:spcBef>
                <a:spcPct val="0"/>
              </a:spcBef>
              <a:spcAft>
                <a:spcPct val="0"/>
              </a:spcAft>
              <a:buClrTx/>
              <a:buSzTx/>
              <a:buFontTx/>
              <a:buChar char="•"/>
            </a:pPr>
            <a:endParaRPr lang="en-US" altLang="en-US">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endParaRPr lang="en-US" altLang="en-US">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FontTx/>
              <a:buChar char="•"/>
            </a:pPr>
            <a:endParaRPr lang="en-US" altLang="en-US">
              <a:solidFill>
                <a:schemeClr val="tx1"/>
              </a:solidFill>
              <a:latin typeface="Arial" panose="020B0604020202020204" pitchFamily="34" charset="0"/>
            </a:endParaRPr>
          </a:p>
        </p:txBody>
      </p:sp>
      <p:sp>
        <p:nvSpPr>
          <p:cNvPr id="3" name="Content Placeholder 2">
            <a:extLst>
              <a:ext uri="{FF2B5EF4-FFF2-40B4-BE49-F238E27FC236}">
                <a16:creationId xmlns:a16="http://schemas.microsoft.com/office/drawing/2014/main" id="{98AB0DC5-A1FE-1331-8A83-D29E6DA01063}"/>
              </a:ext>
            </a:extLst>
          </p:cNvPr>
          <p:cNvSpPr txBox="1">
            <a:spLocks/>
          </p:cNvSpPr>
          <p:nvPr/>
        </p:nvSpPr>
        <p:spPr>
          <a:xfrm>
            <a:off x="102953" y="95810"/>
            <a:ext cx="11833408" cy="890811"/>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400" b="1"/>
              <a:t>What career outcomes can graduates expect in Singapore based on degree choice and gender?</a:t>
            </a:r>
            <a:endParaRPr lang="en-SG" sz="2400" b="1"/>
          </a:p>
        </p:txBody>
      </p:sp>
      <p:pic>
        <p:nvPicPr>
          <p:cNvPr id="15" name="Picture 14">
            <a:extLst>
              <a:ext uri="{FF2B5EF4-FFF2-40B4-BE49-F238E27FC236}">
                <a16:creationId xmlns:a16="http://schemas.microsoft.com/office/drawing/2014/main" id="{677AC548-E21A-50C0-61E3-23884E04B20B}"/>
              </a:ext>
            </a:extLst>
          </p:cNvPr>
          <p:cNvPicPr>
            <a:picLocks noChangeAspect="1"/>
          </p:cNvPicPr>
          <p:nvPr/>
        </p:nvPicPr>
        <p:blipFill>
          <a:blip r:embed="rId3"/>
          <a:stretch>
            <a:fillRect/>
          </a:stretch>
        </p:blipFill>
        <p:spPr>
          <a:xfrm>
            <a:off x="0" y="1119260"/>
            <a:ext cx="4264014" cy="4416301"/>
          </a:xfrm>
          <a:prstGeom prst="rect">
            <a:avLst/>
          </a:prstGeom>
        </p:spPr>
      </p:pic>
    </p:spTree>
    <p:extLst>
      <p:ext uri="{BB962C8B-B14F-4D97-AF65-F5344CB8AC3E}">
        <p14:creationId xmlns:p14="http://schemas.microsoft.com/office/powerpoint/2010/main" val="193847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B38B6-9A5B-B4EE-1945-A22E0C15B3A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89F05E-1C3F-29C7-E62F-7CDC17ECF327}"/>
              </a:ext>
            </a:extLst>
          </p:cNvPr>
          <p:cNvSpPr txBox="1">
            <a:spLocks/>
          </p:cNvSpPr>
          <p:nvPr/>
        </p:nvSpPr>
        <p:spPr>
          <a:xfrm>
            <a:off x="102953" y="196645"/>
            <a:ext cx="11833408" cy="789976"/>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400" b="1"/>
              <a:t>Task Assignments</a:t>
            </a:r>
            <a:endParaRPr lang="en-SG" sz="2400" b="1"/>
          </a:p>
        </p:txBody>
      </p:sp>
      <p:graphicFrame>
        <p:nvGraphicFramePr>
          <p:cNvPr id="4" name="Table 3">
            <a:extLst>
              <a:ext uri="{FF2B5EF4-FFF2-40B4-BE49-F238E27FC236}">
                <a16:creationId xmlns:a16="http://schemas.microsoft.com/office/drawing/2014/main" id="{BFAE3901-FCFB-7887-9E24-72526765F2F5}"/>
              </a:ext>
            </a:extLst>
          </p:cNvPr>
          <p:cNvGraphicFramePr>
            <a:graphicFrameLocks noGrp="1"/>
          </p:cNvGraphicFramePr>
          <p:nvPr>
            <p:extLst>
              <p:ext uri="{D42A27DB-BD31-4B8C-83A1-F6EECF244321}">
                <p14:modId xmlns:p14="http://schemas.microsoft.com/office/powerpoint/2010/main" val="2449761771"/>
              </p:ext>
            </p:extLst>
          </p:nvPr>
        </p:nvGraphicFramePr>
        <p:xfrm>
          <a:off x="2032000" y="892767"/>
          <a:ext cx="8128000" cy="21945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848864863"/>
                    </a:ext>
                  </a:extLst>
                </a:gridCol>
                <a:gridCol w="4064000">
                  <a:extLst>
                    <a:ext uri="{9D8B030D-6E8A-4147-A177-3AD203B41FA5}">
                      <a16:colId xmlns:a16="http://schemas.microsoft.com/office/drawing/2014/main" val="1801438732"/>
                    </a:ext>
                  </a:extLst>
                </a:gridCol>
              </a:tblGrid>
              <a:tr h="350118">
                <a:tc>
                  <a:txBody>
                    <a:bodyPr/>
                    <a:lstStyle/>
                    <a:p>
                      <a:pPr algn="l"/>
                      <a:r>
                        <a:rPr lang="en-SG"/>
                        <a:t>Task</a:t>
                      </a:r>
                    </a:p>
                  </a:txBody>
                  <a:tcPr/>
                </a:tc>
                <a:tc>
                  <a:txBody>
                    <a:bodyPr/>
                    <a:lstStyle/>
                    <a:p>
                      <a:endParaRPr lang="en-SG"/>
                    </a:p>
                  </a:txBody>
                  <a:tcPr/>
                </a:tc>
                <a:extLst>
                  <a:ext uri="{0D108BD9-81ED-4DB2-BD59-A6C34878D82A}">
                    <a16:rowId xmlns:a16="http://schemas.microsoft.com/office/drawing/2014/main" val="3084413548"/>
                  </a:ext>
                </a:extLst>
              </a:tr>
              <a:tr h="350118">
                <a:tc>
                  <a:txBody>
                    <a:bodyPr/>
                    <a:lstStyle/>
                    <a:p>
                      <a:r>
                        <a:rPr lang="en-SG" err="1"/>
                        <a:t>Jupyter</a:t>
                      </a:r>
                      <a:r>
                        <a:rPr lang="en-SG"/>
                        <a:t> Notebook Data Preparation </a:t>
                      </a:r>
                    </a:p>
                  </a:txBody>
                  <a:tcPr/>
                </a:tc>
                <a:tc>
                  <a:txBody>
                    <a:bodyPr/>
                    <a:lstStyle/>
                    <a:p>
                      <a:r>
                        <a:rPr lang="en-SG"/>
                        <a:t>Louis</a:t>
                      </a:r>
                    </a:p>
                  </a:txBody>
                  <a:tcPr/>
                </a:tc>
                <a:extLst>
                  <a:ext uri="{0D108BD9-81ED-4DB2-BD59-A6C34878D82A}">
                    <a16:rowId xmlns:a16="http://schemas.microsoft.com/office/drawing/2014/main" val="796393653"/>
                  </a:ext>
                </a:extLst>
              </a:tr>
              <a:tr h="350118">
                <a:tc>
                  <a:txBody>
                    <a:bodyPr/>
                    <a:lstStyle/>
                    <a:p>
                      <a:r>
                        <a:rPr lang="en-SG" err="1"/>
                        <a:t>Jupyter</a:t>
                      </a:r>
                      <a:r>
                        <a:rPr lang="en-SG"/>
                        <a:t> Notebook Graphical Data Analysis</a:t>
                      </a:r>
                    </a:p>
                  </a:txBody>
                  <a:tcPr/>
                </a:tc>
                <a:tc>
                  <a:txBody>
                    <a:bodyPr/>
                    <a:lstStyle/>
                    <a:p>
                      <a:r>
                        <a:rPr lang="en-SG"/>
                        <a:t>Riley</a:t>
                      </a:r>
                    </a:p>
                  </a:txBody>
                  <a:tcPr/>
                </a:tc>
                <a:extLst>
                  <a:ext uri="{0D108BD9-81ED-4DB2-BD59-A6C34878D82A}">
                    <a16:rowId xmlns:a16="http://schemas.microsoft.com/office/drawing/2014/main" val="3009434590"/>
                  </a:ext>
                </a:extLst>
              </a:tr>
              <a:tr h="350118">
                <a:tc>
                  <a:txBody>
                    <a:bodyPr/>
                    <a:lstStyle/>
                    <a:p>
                      <a:r>
                        <a:rPr lang="en-SG" err="1"/>
                        <a:t>Jupyter</a:t>
                      </a:r>
                      <a:r>
                        <a:rPr lang="en-SG"/>
                        <a:t> Notebook Final Insights</a:t>
                      </a:r>
                    </a:p>
                  </a:txBody>
                  <a:tcPr/>
                </a:tc>
                <a:tc>
                  <a:txBody>
                    <a:bodyPr/>
                    <a:lstStyle/>
                    <a:p>
                      <a:r>
                        <a:rPr lang="en-SG"/>
                        <a:t>Louis</a:t>
                      </a:r>
                    </a:p>
                  </a:txBody>
                  <a:tcPr/>
                </a:tc>
                <a:extLst>
                  <a:ext uri="{0D108BD9-81ED-4DB2-BD59-A6C34878D82A}">
                    <a16:rowId xmlns:a16="http://schemas.microsoft.com/office/drawing/2014/main" val="2832110377"/>
                  </a:ext>
                </a:extLst>
              </a:tr>
              <a:tr h="350118">
                <a:tc>
                  <a:txBody>
                    <a:bodyPr/>
                    <a:lstStyle/>
                    <a:p>
                      <a:r>
                        <a:rPr lang="en-SG" err="1"/>
                        <a:t>Uipath</a:t>
                      </a:r>
                      <a:r>
                        <a:rPr lang="en-SG"/>
                        <a:t> workflow and video</a:t>
                      </a:r>
                    </a:p>
                  </a:txBody>
                  <a:tcPr/>
                </a:tc>
                <a:tc>
                  <a:txBody>
                    <a:bodyPr/>
                    <a:lstStyle/>
                    <a:p>
                      <a:r>
                        <a:rPr lang="en-SG"/>
                        <a:t>Louis, Riley</a:t>
                      </a:r>
                    </a:p>
                  </a:txBody>
                  <a:tcPr/>
                </a:tc>
                <a:extLst>
                  <a:ext uri="{0D108BD9-81ED-4DB2-BD59-A6C34878D82A}">
                    <a16:rowId xmlns:a16="http://schemas.microsoft.com/office/drawing/2014/main" val="4153560201"/>
                  </a:ext>
                </a:extLst>
              </a:tr>
              <a:tr h="350118">
                <a:tc>
                  <a:txBody>
                    <a:bodyPr/>
                    <a:lstStyle/>
                    <a:p>
                      <a:r>
                        <a:rPr lang="en-SG"/>
                        <a:t>Presentation slides</a:t>
                      </a:r>
                    </a:p>
                  </a:txBody>
                  <a:tcPr/>
                </a:tc>
                <a:tc>
                  <a:txBody>
                    <a:bodyPr/>
                    <a:lstStyle/>
                    <a:p>
                      <a:r>
                        <a:rPr lang="en-SG"/>
                        <a:t>Louis, Riley</a:t>
                      </a:r>
                    </a:p>
                  </a:txBody>
                  <a:tcPr/>
                </a:tc>
                <a:extLst>
                  <a:ext uri="{0D108BD9-81ED-4DB2-BD59-A6C34878D82A}">
                    <a16:rowId xmlns:a16="http://schemas.microsoft.com/office/drawing/2014/main" val="2333942814"/>
                  </a:ext>
                </a:extLst>
              </a:tr>
            </a:tbl>
          </a:graphicData>
        </a:graphic>
      </p:graphicFrame>
    </p:spTree>
    <p:extLst>
      <p:ext uri="{BB962C8B-B14F-4D97-AF65-F5344CB8AC3E}">
        <p14:creationId xmlns:p14="http://schemas.microsoft.com/office/powerpoint/2010/main" val="232118944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TM02900769[[fn=Retrospect]]</Template>
  <TotalTime>0</TotalTime>
  <Words>861</Words>
  <Application>Microsoft Office PowerPoint</Application>
  <PresentationFormat>Widescreen</PresentationFormat>
  <Paragraphs>126</Paragraphs>
  <Slides>13</Slides>
  <Notes>5</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Calibri Light</vt:lpstr>
      <vt:lpstr>Retrospect</vt:lpstr>
      <vt:lpstr>What career outcomes can graduates expect in Singapore, based on their degree choice and gender?  Sub-questions: How do different degrees influence salary outcomes and extra benefits?  How does gender affect employment rates?  How does gender shape work‑life balance through differences in working hours?¶</vt:lpstr>
      <vt:lpstr>UI path Features</vt:lpstr>
      <vt:lpstr>Resources</vt:lpstr>
      <vt:lpstr>Dataset 1 – Importing and Inspecting Data</vt:lpstr>
      <vt:lpstr>Dataset 1 – Standardisation and Preparation</vt:lpstr>
      <vt:lpstr>Dataset 1 – Choice of Visualisation</vt:lpstr>
      <vt:lpstr>Dataset 2 –Inspecting and Processing Data</vt:lpstr>
      <vt:lpstr>Dataset 2 – Choice of Visualisation</vt:lpstr>
      <vt:lpstr>Dataset 3</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YAN MYOE NAING</dc:creator>
  <cp:lastModifiedBy>YAN MYOE NAING</cp:lastModifiedBy>
  <cp:revision>1</cp:revision>
  <dcterms:created xsi:type="dcterms:W3CDTF">2026-01-27T17:34:46Z</dcterms:created>
  <dcterms:modified xsi:type="dcterms:W3CDTF">2026-02-01T06:59:35Z</dcterms:modified>
</cp:coreProperties>
</file>